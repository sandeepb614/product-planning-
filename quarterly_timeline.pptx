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B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914400"/>
            <a:ext cx="4572000" cy="4572000"/>
          </a:xfrm>
          <a:prstGeom prst="ellipse">
            <a:avLst/>
          </a:prstGeom>
          <a:solidFill>
            <a:srgbClr val="2D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4114800"/>
            <a:ext cx="3657600" cy="3657600"/>
          </a:xfrm>
          <a:prstGeom prst="ellipse">
            <a:avLst/>
          </a:prstGeom>
          <a:solidFill>
            <a:srgbClr val="2016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EDE9FE"/>
                </a:solidFill>
              </a:rPr>
              <a:t>Product 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084FF"/>
                </a:solidFill>
              </a:rPr>
              <a:t>Feature Release Timeline · Q1 2025 – Q3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566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D8FC7"/>
                </a:solidFill>
              </a:rPr>
              <a:t>100 Features   ·   26 Released   ·   7 Quarters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3D2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77272" y="6355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D8FC7"/>
                </a:solidFill>
              </a:rP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0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914400"/>
          </a:xfrm>
          <a:prstGeom prst="rect">
            <a:avLst/>
          </a:prstGeom>
          <a:solidFill>
            <a:srgbClr val="1A1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DE9FE"/>
                </a:solidFill>
              </a:rPr>
              <a:t>Q1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77272" y="23774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D8FC7"/>
                </a:solidFill>
              </a:rPr>
              <a:t>3 features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3D2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77272" y="643737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D8FC7"/>
                </a:solidFill>
              </a:rPr>
              <a:t>2025-03-31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143000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143000"/>
            <a:ext cx="50292" cy="34747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4924" y="1179576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Email Notification System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67200" y="1143000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67200" y="1143000"/>
            <a:ext cx="50292" cy="34747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90644" y="1179576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Event Tracking System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2920" y="1143000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2920" y="1143000"/>
            <a:ext cx="50292" cy="347472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6364" y="1179576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REST API v2 Redesign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0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914400"/>
          </a:xfrm>
          <a:prstGeom prst="rect">
            <a:avLst/>
          </a:prstGeom>
          <a:solidFill>
            <a:srgbClr val="1A1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DE9FE"/>
                </a:solidFill>
              </a:rPr>
              <a:t>Q2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77272" y="23774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D8FC7"/>
                </a:solidFill>
              </a:rPr>
              <a:t>17 features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3D2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77272" y="643737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D8FC7"/>
                </a:solidFill>
              </a:rPr>
              <a:t>2025-06-30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143000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143000"/>
            <a:ext cx="50292" cy="347472"/>
          </a:xfrm>
          <a:prstGeom prst="rect">
            <a:avLst/>
          </a:prstGeom>
          <a:solidFill>
            <a:srgbClr val="554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4924" y="1179576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API Key Management Portal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581912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581912"/>
            <a:ext cx="50292" cy="347472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4924" y="1618488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Bulk User Import / Export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020824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2020824"/>
            <a:ext cx="50292" cy="347472"/>
          </a:xfrm>
          <a:prstGeom prst="rect">
            <a:avLst/>
          </a:prstGeom>
          <a:solidFill>
            <a:srgbClr val="4B4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4924" y="2057400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Contextual Tooltips System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459736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2459736"/>
            <a:ext cx="50292" cy="34747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4924" y="2496312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GitHub Integration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2898648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2898648"/>
            <a:ext cx="50292" cy="34747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4924" y="2935224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LDAP / Active Directory Integration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337560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3337560"/>
            <a:ext cx="50292" cy="347472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4924" y="3374136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Multi-currency Support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67200" y="1143000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67200" y="1143000"/>
            <a:ext cx="50292" cy="34747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90644" y="1179576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PDF Report Generation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67200" y="1581912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67200" y="1581912"/>
            <a:ext cx="50292" cy="347472"/>
          </a:xfrm>
          <a:prstGeom prst="rect">
            <a:avLst/>
          </a:prstGeom>
          <a:solidFill>
            <a:srgbClr val="554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90644" y="1618488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Password Reset &amp; Recovery Flow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67200" y="2020824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67200" y="2020824"/>
            <a:ext cx="50292" cy="347472"/>
          </a:xfrm>
          <a:prstGeom prst="rect">
            <a:avLst/>
          </a:prstGeom>
          <a:solidFill>
            <a:srgbClr val="4B4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90644" y="2057400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Payment History &amp; Receipts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67200" y="2459736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67200" y="2459736"/>
            <a:ext cx="50292" cy="34747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90644" y="2496312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Real-time Data Updates via WebSocket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67200" y="2898648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67200" y="2898648"/>
            <a:ext cx="50292" cy="347472"/>
          </a:xfrm>
          <a:prstGeom prst="rect">
            <a:avLst/>
          </a:prstGeom>
          <a:solidFill>
            <a:srgbClr val="554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90644" y="2935224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Redis Caching Layer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67200" y="3337560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67200" y="3337560"/>
            <a:ext cx="50292" cy="34747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90644" y="3374136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Shared Report Links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22920" y="1143000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122920" y="1143000"/>
            <a:ext cx="50292" cy="347472"/>
          </a:xfrm>
          <a:prstGeom prst="rect">
            <a:avLst/>
          </a:prstGeom>
          <a:solidFill>
            <a:srgbClr val="554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46364" y="1179576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Team &amp; Organization Settings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22920" y="1581912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122920" y="1581912"/>
            <a:ext cx="50292" cy="347472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46364" y="1618488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User Authentication via OAuth 2.0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22920" y="2020824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122920" y="2020824"/>
            <a:ext cx="50292" cy="34747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46364" y="2057400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User Impersonation for Support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122920" y="2459736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122920" y="2459736"/>
            <a:ext cx="50292" cy="347472"/>
          </a:xfrm>
          <a:prstGeom prst="rect">
            <a:avLst/>
          </a:prstGeom>
          <a:solidFill>
            <a:srgbClr val="554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46364" y="2496312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Video Tutorial Embedded Player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122920" y="2898648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122920" y="2898648"/>
            <a:ext cx="50292" cy="34747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46364" y="2935224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Zapier Integration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0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914400"/>
          </a:xfrm>
          <a:prstGeom prst="rect">
            <a:avLst/>
          </a:prstGeom>
          <a:solidFill>
            <a:srgbClr val="1A1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DE9FE"/>
                </a:solidFill>
              </a:rPr>
              <a:t>Q3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77272" y="23774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D8FC7"/>
                </a:solidFill>
              </a:rPr>
              <a:t>19 features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3D2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77272" y="643737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D8FC7"/>
                </a:solidFill>
              </a:rPr>
              <a:t>2025-09-30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143000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143000"/>
            <a:ext cx="50292" cy="34747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4924" y="1179576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API Versioning Strategy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581912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581912"/>
            <a:ext cx="50292" cy="34747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4924" y="1618488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Audit Log Viewer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020824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2020824"/>
            <a:ext cx="50292" cy="347472"/>
          </a:xfrm>
          <a:prstGeom prst="rect">
            <a:avLst/>
          </a:prstGeom>
          <a:solidFill>
            <a:srgbClr val="554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4924" y="2057400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Biometric Login Support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459736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2459736"/>
            <a:ext cx="50292" cy="347472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4924" y="2496312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Dark Mode UI Theme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2898648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2898648"/>
            <a:ext cx="50292" cy="34747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4924" y="2935224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Failed Payment Retry Logic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337560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3337560"/>
            <a:ext cx="50292" cy="347472"/>
          </a:xfrm>
          <a:prstGeom prst="rect">
            <a:avLst/>
          </a:prstGeom>
          <a:solidFill>
            <a:srgbClr val="554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4924" y="3374136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Geographic Usage Heatmap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3776472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" y="3776472"/>
            <a:ext cx="50292" cy="34747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4924" y="3813048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Global Search Across Modules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67200" y="1143000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67200" y="1143000"/>
            <a:ext cx="50292" cy="34747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90644" y="1179576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GraphQL API Layer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67200" y="1581912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67200" y="1581912"/>
            <a:ext cx="50292" cy="34747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90644" y="1618488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KPI Summary Cards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67200" y="2020824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67200" y="2020824"/>
            <a:ext cx="50292" cy="34747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90644" y="2057400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Lazy Loading for Assets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67200" y="2459736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67200" y="2459736"/>
            <a:ext cx="50292" cy="347472"/>
          </a:xfrm>
          <a:prstGeom prst="rect">
            <a:avLst/>
          </a:prstGeom>
          <a:solidFill>
            <a:srgbClr val="4B4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90644" y="2496312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Mobile Deep Linking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67200" y="2898648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67200" y="2898648"/>
            <a:ext cx="50292" cy="347472"/>
          </a:xfrm>
          <a:prstGeom prst="rect">
            <a:avLst/>
          </a:prstGeom>
          <a:solidFill>
            <a:srgbClr val="554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90644" y="2935224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Multi-tenant Data Isolation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67200" y="3337560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267200" y="3337560"/>
            <a:ext cx="50292" cy="34747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90644" y="3374136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Offline Mode Support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67200" y="3776472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267200" y="3776472"/>
            <a:ext cx="50292" cy="347472"/>
          </a:xfrm>
          <a:prstGeom prst="rect">
            <a:avLst/>
          </a:prstGeom>
          <a:solidFill>
            <a:srgbClr val="554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90644" y="3813048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Revenue Analytics Module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22920" y="1143000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122920" y="1143000"/>
            <a:ext cx="50292" cy="347472"/>
          </a:xfrm>
          <a:prstGeom prst="rect">
            <a:avLst/>
          </a:prstGeom>
          <a:solidFill>
            <a:srgbClr val="554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46364" y="1179576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Role-Based Access Control (RBAC)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122920" y="1581912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122920" y="1581912"/>
            <a:ext cx="50292" cy="34747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46364" y="1618488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Social Login (Google, GitHub, Apple)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122920" y="2020824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122920" y="2020824"/>
            <a:ext cx="50292" cy="34747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46364" y="2057400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Tax Calculation &amp; Compliance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122920" y="2459736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122920" y="2459736"/>
            <a:ext cx="50292" cy="34747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246364" y="2496312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Usage-Based Billing Engine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122920" y="2898648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122920" y="2898648"/>
            <a:ext cx="50292" cy="34747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246364" y="2935224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Weekly Digest Emails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0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914400"/>
          </a:xfrm>
          <a:prstGeom prst="rect">
            <a:avLst/>
          </a:prstGeom>
          <a:solidFill>
            <a:srgbClr val="1A1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DE9FE"/>
                </a:solidFill>
              </a:rPr>
              <a:t>Q4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77272" y="23774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D8FC7"/>
                </a:solidFill>
              </a:rPr>
              <a:t>16 features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3D2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77272" y="643737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D8FC7"/>
                </a:solidFill>
              </a:rPr>
              <a:t>2025-12-31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143000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143000"/>
            <a:ext cx="50292" cy="347472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4924" y="1179576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CSV / Excel Data Export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581912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581912"/>
            <a:ext cx="50292" cy="347472"/>
          </a:xfrm>
          <a:prstGeom prst="rect">
            <a:avLst/>
          </a:prstGeom>
          <a:solidFill>
            <a:srgbClr val="554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4924" y="1618488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Custom Analytics Dashboards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020824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2020824"/>
            <a:ext cx="50292" cy="34747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4924" y="2057400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Data Encryption at Rest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459736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2459736"/>
            <a:ext cx="50292" cy="347472"/>
          </a:xfrm>
          <a:prstGeom prst="rect">
            <a:avLst/>
          </a:prstGeom>
          <a:solidFill>
            <a:srgbClr val="554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4924" y="2496312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Drag-and-Drop Dashboard Builder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2898648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2898648"/>
            <a:ext cx="50292" cy="347472"/>
          </a:xfrm>
          <a:prstGeom prst="rect">
            <a:avLst/>
          </a:prstGeom>
          <a:solidFill>
            <a:srgbClr val="554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4924" y="2935224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Google Analytics Connector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337560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3337560"/>
            <a:ext cx="50292" cy="347472"/>
          </a:xfrm>
          <a:prstGeom prst="rect">
            <a:avLst/>
          </a:prstGeom>
          <a:solidFill>
            <a:srgbClr val="554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4924" y="3374136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In-App Notification Center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67200" y="1143000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67200" y="1143000"/>
            <a:ext cx="50292" cy="347472"/>
          </a:xfrm>
          <a:prstGeom prst="rect">
            <a:avLst/>
          </a:prstGeom>
          <a:solidFill>
            <a:srgbClr val="554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90644" y="1179576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Integration Settings Hub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67200" y="1581912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67200" y="1581912"/>
            <a:ext cx="50292" cy="34747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90644" y="1618488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Notification Preferences &amp; Controls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67200" y="2020824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67200" y="2020824"/>
            <a:ext cx="50292" cy="34747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90644" y="2057400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Notion Integration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67200" y="2459736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67200" y="2459736"/>
            <a:ext cx="50292" cy="34747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90644" y="2496312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Responsive Mobile Layout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67200" y="2898648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67200" y="2898648"/>
            <a:ext cx="50292" cy="34747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90644" y="2935224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SMS Alert Integration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67200" y="3337560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67200" y="3337560"/>
            <a:ext cx="50292" cy="347472"/>
          </a:xfrm>
          <a:prstGeom prst="rect">
            <a:avLst/>
          </a:prstGeom>
          <a:solidFill>
            <a:srgbClr val="554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90644" y="3374136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Sample Data Generator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22920" y="1143000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122920" y="1143000"/>
            <a:ext cx="50292" cy="34747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46364" y="1179576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Saved Searches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22920" y="1581912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122920" y="1581912"/>
            <a:ext cx="50292" cy="347472"/>
          </a:xfrm>
          <a:prstGeom prst="rect">
            <a:avLst/>
          </a:prstGeom>
          <a:solidFill>
            <a:srgbClr val="554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46364" y="1618488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Search Autocomplete &amp; Suggestions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22920" y="2020824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122920" y="2020824"/>
            <a:ext cx="50292" cy="347472"/>
          </a:xfrm>
          <a:prstGeom prst="rect">
            <a:avLst/>
          </a:prstGeom>
          <a:solidFill>
            <a:srgbClr val="554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46364" y="2057400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User Activity Feed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122920" y="2459736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122920" y="2459736"/>
            <a:ext cx="50292" cy="34747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46364" y="2496312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User Profile Settings Page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0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914400"/>
          </a:xfrm>
          <a:prstGeom prst="rect">
            <a:avLst/>
          </a:prstGeom>
          <a:solidFill>
            <a:srgbClr val="1A1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DE9FE"/>
                </a:solidFill>
              </a:rPr>
              <a:t>Q1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77272" y="23774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D8FC7"/>
                </a:solidFill>
              </a:rPr>
              <a:t>19 features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3D2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77272" y="643737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D8FC7"/>
                </a:solidFill>
              </a:rPr>
              <a:t>2026-03-31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143000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143000"/>
            <a:ext cx="50292" cy="34747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4924" y="1179576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A/B Testing Framework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581912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581912"/>
            <a:ext cx="50292" cy="347472"/>
          </a:xfrm>
          <a:prstGeom prst="rect">
            <a:avLst/>
          </a:prstGeom>
          <a:solidFill>
            <a:srgbClr val="4B4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4924" y="1618488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Android Native App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020824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2020824"/>
            <a:ext cx="50292" cy="34747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4924" y="2057400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Database Query Optimization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459736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2459736"/>
            <a:ext cx="50292" cy="347472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4924" y="2496312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Funnel Analysis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2898648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2898648"/>
            <a:ext cx="50292" cy="34747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4924" y="2935224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HubSpot Integration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337560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3337560"/>
            <a:ext cx="50292" cy="34747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4924" y="3374136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Interactive Onboarding Wizard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3776472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" y="3776472"/>
            <a:ext cx="50292" cy="34747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4924" y="3813048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Jira Integration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67200" y="1143000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67200" y="1143000"/>
            <a:ext cx="50292" cy="347472"/>
          </a:xfrm>
          <a:prstGeom prst="rect">
            <a:avLst/>
          </a:prstGeom>
          <a:solidFill>
            <a:srgbClr val="554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90644" y="1179576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Load Balancing Configuration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67200" y="1581912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67200" y="1581912"/>
            <a:ext cx="50292" cy="34747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90644" y="1618488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Microsoft Teams Integration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67200" y="2020824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67200" y="2020824"/>
            <a:ext cx="50292" cy="347472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90644" y="2057400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Promotional Codes &amp; Discounts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67200" y="2459736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67200" y="2459736"/>
            <a:ext cx="50292" cy="34747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90644" y="2496312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SDK Auto-generation (Python, JS, Go)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67200" y="2898648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67200" y="2898648"/>
            <a:ext cx="50292" cy="34747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90644" y="2935224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Saved Dashboard Layouts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67200" y="3337560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267200" y="3337560"/>
            <a:ext cx="50292" cy="347472"/>
          </a:xfrm>
          <a:prstGeom prst="rect">
            <a:avLst/>
          </a:prstGeom>
          <a:solidFill>
            <a:srgbClr val="554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90644" y="3374136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Scheduled Report Delivery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67200" y="3776472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267200" y="3776472"/>
            <a:ext cx="50292" cy="34747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90644" y="3813048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Session Management &amp; Timeout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22920" y="1143000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122920" y="1143000"/>
            <a:ext cx="50292" cy="347472"/>
          </a:xfrm>
          <a:prstGeom prst="rect">
            <a:avLst/>
          </a:prstGeom>
          <a:solidFill>
            <a:srgbClr val="4B4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46364" y="1179576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Single Sign-On (SSO) Integration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122920" y="1581912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122920" y="1581912"/>
            <a:ext cx="50292" cy="347472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46364" y="1618488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Slack Integration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122920" y="2020824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122920" y="2020824"/>
            <a:ext cx="50292" cy="34747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46364" y="2057400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Team Hierarchy Management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122920" y="2459736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122920" y="2459736"/>
            <a:ext cx="50292" cy="347472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246364" y="2496312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Two-Factor Authentication (2FA)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122920" y="2898648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122920" y="2898648"/>
            <a:ext cx="50292" cy="347472"/>
          </a:xfrm>
          <a:prstGeom prst="rect">
            <a:avLst/>
          </a:prstGeom>
          <a:solidFill>
            <a:srgbClr val="554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246364" y="2935224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Widget Customization Panel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0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914400"/>
          </a:xfrm>
          <a:prstGeom prst="rect">
            <a:avLst/>
          </a:prstGeom>
          <a:solidFill>
            <a:srgbClr val="1A1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DE9FE"/>
                </a:solidFill>
              </a:rPr>
              <a:t>Q2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77272" y="23774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D8FC7"/>
                </a:solidFill>
              </a:rPr>
              <a:t>15 features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3D2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77272" y="643737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D8FC7"/>
                </a:solidFill>
              </a:rPr>
              <a:t>2026-06-30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143000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143000"/>
            <a:ext cx="50292" cy="347472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4924" y="1179576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API Rate Limiting &amp; Throttling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581912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581912"/>
            <a:ext cx="50292" cy="34747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4924" y="1618488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App Performance Optimization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020824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2020824"/>
            <a:ext cx="50292" cy="34747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4924" y="2057400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CDN Integration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459736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2459736"/>
            <a:ext cx="50292" cy="34747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4924" y="2496312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Cohort Retention Reports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2898648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2898648"/>
            <a:ext cx="50292" cy="347472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4924" y="2935224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Custom Report Builder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67200" y="1143000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67200" y="1143000"/>
            <a:ext cx="50292" cy="34747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90644" y="1179576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Full-Text Search Engine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67200" y="1581912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67200" y="1581912"/>
            <a:ext cx="50292" cy="34747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90644" y="1618488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IP Allowlist / Blocklist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67200" y="2020824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67200" y="2020824"/>
            <a:ext cx="50292" cy="347472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90644" y="2057400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Mobile Push Notifications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67200" y="2459736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67200" y="2459736"/>
            <a:ext cx="50292" cy="34747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90644" y="2496312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Onboarding Progress Tracker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67200" y="2898648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67200" y="2898648"/>
            <a:ext cx="50292" cy="34747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90644" y="2935224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Penetration Testing Automation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22920" y="1143000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22920" y="1143000"/>
            <a:ext cx="50292" cy="34747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46364" y="1179576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Security &amp; Privacy Settings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22920" y="1581912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22920" y="1581912"/>
            <a:ext cx="50292" cy="34747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46364" y="1618488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Stripe Payment Integration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22920" y="2020824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122920" y="2020824"/>
            <a:ext cx="50292" cy="34747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46364" y="2057400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Subscription Plan Management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22920" y="2459736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122920" y="2459736"/>
            <a:ext cx="50292" cy="34747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46364" y="2496312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User Activity Analytics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22920" y="2898648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122920" y="2898648"/>
            <a:ext cx="50292" cy="347472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46364" y="2935224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Webhook Delivery System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0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914400"/>
          </a:xfrm>
          <a:prstGeom prst="rect">
            <a:avLst/>
          </a:prstGeom>
          <a:solidFill>
            <a:srgbClr val="1A1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DE9FE"/>
                </a:solidFill>
              </a:rPr>
              <a:t>Q3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77272" y="23774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D8FC7"/>
                </a:solidFill>
              </a:rPr>
              <a:t>11 features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3D2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77272" y="643737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D8FC7"/>
                </a:solidFill>
              </a:rPr>
              <a:t>2026-09-30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143000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143000"/>
            <a:ext cx="50292" cy="34747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4924" y="1179576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API Playground &amp; Explorer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581912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581912"/>
            <a:ext cx="50292" cy="34747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4924" y="1618488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Advanced Filter &amp; Faceted Search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020824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2020824"/>
            <a:ext cx="50292" cy="347472"/>
          </a:xfrm>
          <a:prstGeom prst="rect">
            <a:avLst/>
          </a:prstGeom>
          <a:solidFill>
            <a:srgbClr val="554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4924" y="2057400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Background Job Queue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459736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2459736"/>
            <a:ext cx="50292" cy="347472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4924" y="2496312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Biometric Auth on Mobile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67200" y="1143000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67200" y="1143000"/>
            <a:ext cx="50292" cy="34747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90644" y="1179576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GDPR Compliance Tools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67200" y="1581912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67200" y="1581912"/>
            <a:ext cx="50292" cy="34747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90644" y="1618488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Invoice Generation &amp; PDF Export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67200" y="2020824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67200" y="2020824"/>
            <a:ext cx="50292" cy="347472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90644" y="2057400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SOC 2 Compliance Features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67200" y="2459736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67200" y="2459736"/>
            <a:ext cx="50292" cy="34747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90644" y="2496312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Salesforce CRM Integration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22920" y="1143000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22920" y="1143000"/>
            <a:ext cx="50292" cy="34747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46364" y="1179576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Security Dashboard &amp; Alerts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22920" y="1581912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22920" y="1581912"/>
            <a:ext cx="50292" cy="347472"/>
          </a:xfrm>
          <a:prstGeom prst="rect">
            <a:avLst/>
          </a:prstGeom>
          <a:solidFill>
            <a:srgbClr val="554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46364" y="1618488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Zendesk Support Integration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22920" y="2020824"/>
            <a:ext cx="3654552" cy="347472"/>
          </a:xfrm>
          <a:prstGeom prst="rect">
            <a:avLst/>
          </a:prstGeom>
          <a:solidFill>
            <a:srgbClr val="221A42"/>
          </a:solidFill>
          <a:ln w="6350">
            <a:solidFill>
              <a:srgbClr val="3D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22920" y="2020824"/>
            <a:ext cx="50292" cy="347472"/>
          </a:xfrm>
          <a:prstGeom prst="rect">
            <a:avLst/>
          </a:prstGeom>
          <a:solidFill>
            <a:srgbClr val="554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46364" y="2057400"/>
            <a:ext cx="34945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EDE9FE"/>
                </a:solidFill>
              </a:rPr>
              <a:t>iOS Native 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